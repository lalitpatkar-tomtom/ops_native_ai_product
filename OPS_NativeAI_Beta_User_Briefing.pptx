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it Patkar" userId="60265e2f-a99e-47cf-b316-93d9dc04c110" providerId="ADAL" clId="{A9B13A0A-F99A-4E30-8081-D559063533CF}"/>
    <pc:docChg chg="undo custSel modSld">
      <pc:chgData name="Lalit Patkar" userId="60265e2f-a99e-47cf-b316-93d9dc04c110" providerId="ADAL" clId="{A9B13A0A-F99A-4E30-8081-D559063533CF}" dt="2026-10-07T07:34:36.308" v="287" actId="207"/>
      <pc:docMkLst>
        <pc:docMk/>
      </pc:docMkLst>
      <pc:sldChg chg="addSp modSp mod">
        <pc:chgData name="Lalit Patkar" userId="60265e2f-a99e-47cf-b316-93d9dc04c110" providerId="ADAL" clId="{A9B13A0A-F99A-4E30-8081-D559063533CF}" dt="2026-10-07T07:34:36.308" v="287" actId="207"/>
        <pc:sldMkLst>
          <pc:docMk/>
          <pc:sldMk cId="0" sldId="256"/>
        </pc:sldMkLst>
        <pc:spChg chg="mod">
          <ac:chgData name="Lalit Patkar" userId="60265e2f-a99e-47cf-b316-93d9dc04c110" providerId="ADAL" clId="{A9B13A0A-F99A-4E30-8081-D559063533CF}" dt="2026-10-07T06:13:51.270" v="8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13:40.433" v="84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15:16.354" v="157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15:16.354" v="157" actId="1076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Lalit Patkar" userId="60265e2f-a99e-47cf-b316-93d9dc04c110" providerId="ADAL" clId="{A9B13A0A-F99A-4E30-8081-D559063533CF}" dt="2026-10-07T07:34:36.308" v="287" actId="207"/>
          <ac:spMkLst>
            <pc:docMk/>
            <pc:sldMk cId="0" sldId="256"/>
            <ac:spMk id="9" creationId="{1579CB96-A796-7C7D-9669-CF64D6EC91C7}"/>
          </ac:spMkLst>
        </pc:spChg>
      </pc:sldChg>
      <pc:sldChg chg="modSp mod">
        <pc:chgData name="Lalit Patkar" userId="60265e2f-a99e-47cf-b316-93d9dc04c110" providerId="ADAL" clId="{A9B13A0A-F99A-4E30-8081-D559063533CF}" dt="2026-10-07T04:29:43.006" v="13" actId="1076"/>
        <pc:sldMkLst>
          <pc:docMk/>
          <pc:sldMk cId="0" sldId="258"/>
        </pc:sldMkLst>
        <pc:spChg chg="mod">
          <ac:chgData name="Lalit Patkar" userId="60265e2f-a99e-47cf-b316-93d9dc04c110" providerId="ADAL" clId="{A9B13A0A-F99A-4E30-8081-D559063533CF}" dt="2026-10-07T04:29:43.006" v="13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29:33.624" v="9" actId="404"/>
          <ac:spMkLst>
            <pc:docMk/>
            <pc:sldMk cId="0" sldId="258"/>
            <ac:spMk id="10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29:33.624" v="9" actId="404"/>
          <ac:spMkLst>
            <pc:docMk/>
            <pc:sldMk cId="0" sldId="258"/>
            <ac:spMk id="14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29:33.624" v="9" actId="404"/>
          <ac:spMkLst>
            <pc:docMk/>
            <pc:sldMk cId="0" sldId="258"/>
            <ac:spMk id="18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29:33.624" v="9" actId="404"/>
          <ac:spMkLst>
            <pc:docMk/>
            <pc:sldMk cId="0" sldId="258"/>
            <ac:spMk id="22" creationId="{00000000-0000-0000-0000-000000000000}"/>
          </ac:spMkLst>
        </pc:spChg>
      </pc:sldChg>
      <pc:sldChg chg="modSp mod">
        <pc:chgData name="Lalit Patkar" userId="60265e2f-a99e-47cf-b316-93d9dc04c110" providerId="ADAL" clId="{A9B13A0A-F99A-4E30-8081-D559063533CF}" dt="2026-10-07T06:28:52.411" v="224" actId="20577"/>
        <pc:sldMkLst>
          <pc:docMk/>
          <pc:sldMk cId="0" sldId="259"/>
        </pc:sldMkLst>
        <pc:spChg chg="mod">
          <ac:chgData name="Lalit Patkar" userId="60265e2f-a99e-47cf-b316-93d9dc04c110" providerId="ADAL" clId="{A9B13A0A-F99A-4E30-8081-D559063533CF}" dt="2026-10-07T04:30:43.854" v="36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28:19.517" v="199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0:31.245" v="34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1:10.210" v="39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28:52.411" v="224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28:46.852" v="213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12.542" v="46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1:27.879" v="4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15.166" v="47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1:16.367" v="40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0:58.784" v="37" actId="14100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Lalit Patkar" userId="60265e2f-a99e-47cf-b316-93d9dc04c110" providerId="ADAL" clId="{A9B13A0A-F99A-4E30-8081-D559063533CF}" dt="2026-10-07T06:29:45.119" v="280" actId="20577"/>
        <pc:sldMkLst>
          <pc:docMk/>
          <pc:sldMk cId="0" sldId="260"/>
        </pc:sldMkLst>
        <pc:spChg chg="mod">
          <ac:chgData name="Lalit Patkar" userId="60265e2f-a99e-47cf-b316-93d9dc04c110" providerId="ADAL" clId="{A9B13A0A-F99A-4E30-8081-D559063533CF}" dt="2026-10-07T04:32:26.057" v="49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48.007" v="64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29:29.833" v="243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29:45.119" v="280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48.007" v="64" actId="103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48.007" v="64" actId="103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48.007" v="64" actId="103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48.007" v="64" actId="103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48.007" v="64" actId="103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48.007" v="64" actId="103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2:48.007" v="64" actId="1036"/>
          <ac:spMkLst>
            <pc:docMk/>
            <pc:sldMk cId="0" sldId="260"/>
            <ac:spMk id="30" creationId="{00000000-0000-0000-0000-000000000000}"/>
          </ac:spMkLst>
        </pc:spChg>
      </pc:sldChg>
      <pc:sldChg chg="modSp mod">
        <pc:chgData name="Lalit Patkar" userId="60265e2f-a99e-47cf-b316-93d9dc04c110" providerId="ADAL" clId="{A9B13A0A-F99A-4E30-8081-D559063533CF}" dt="2026-10-07T06:36:33.324" v="284" actId="20577"/>
        <pc:sldMkLst>
          <pc:docMk/>
          <pc:sldMk cId="0" sldId="263"/>
        </pc:sldMkLst>
        <pc:spChg chg="mod">
          <ac:chgData name="Lalit Patkar" userId="60265e2f-a99e-47cf-b316-93d9dc04c110" providerId="ADAL" clId="{A9B13A0A-F99A-4E30-8081-D559063533CF}" dt="2026-10-07T04:33:42.173" v="68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3:56.234" v="71" actId="404"/>
          <ac:spMkLst>
            <pc:docMk/>
            <pc:sldMk cId="0" sldId="263"/>
            <ac:spMk id="9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3:42.173" v="68" actId="40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3:56.234" v="71" actId="40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3:42.173" v="68" actId="40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3:42.173" v="68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10.682" v="74" actId="404"/>
          <ac:spMkLst>
            <pc:docMk/>
            <pc:sldMk cId="0" sldId="263"/>
            <ac:spMk id="16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6:36:33.324" v="284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3:42.173" v="68" actId="40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3:42.173" v="68" actId="403"/>
          <ac:spMkLst>
            <pc:docMk/>
            <pc:sldMk cId="0" sldId="263"/>
            <ac:spMk id="19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10.682" v="74" actId="404"/>
          <ac:spMkLst>
            <pc:docMk/>
            <pc:sldMk cId="0" sldId="263"/>
            <ac:spMk id="20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10.682" v="74" actId="404"/>
          <ac:spMkLst>
            <pc:docMk/>
            <pc:sldMk cId="0" sldId="263"/>
            <ac:spMk id="21" creationId="{00000000-0000-0000-0000-000000000000}"/>
          </ac:spMkLst>
        </pc:spChg>
      </pc:sldChg>
      <pc:sldChg chg="modSp mod">
        <pc:chgData name="Lalit Patkar" userId="60265e2f-a99e-47cf-b316-93d9dc04c110" providerId="ADAL" clId="{A9B13A0A-F99A-4E30-8081-D559063533CF}" dt="2026-10-07T04:34:49.109" v="75" actId="403"/>
        <pc:sldMkLst>
          <pc:docMk/>
          <pc:sldMk cId="0" sldId="264"/>
        </pc:sldMkLst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14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17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19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20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22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23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4:49.109" v="75" actId="403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Lalit Patkar" userId="60265e2f-a99e-47cf-b316-93d9dc04c110" providerId="ADAL" clId="{A9B13A0A-F99A-4E30-8081-D559063533CF}" dt="2026-10-07T04:35:39.697" v="80" actId="404"/>
        <pc:sldMkLst>
          <pc:docMk/>
          <pc:sldMk cId="0" sldId="265"/>
        </pc:sldMkLst>
        <pc:spChg chg="mod">
          <ac:chgData name="Lalit Patkar" userId="60265e2f-a99e-47cf-b316-93d9dc04c110" providerId="ADAL" clId="{A9B13A0A-F99A-4E30-8081-D559063533CF}" dt="2026-10-07T04:35:39.697" v="80" actId="404"/>
          <ac:spMkLst>
            <pc:docMk/>
            <pc:sldMk cId="0" sldId="265"/>
            <ac:spMk id="9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5:39.697" v="80" actId="404"/>
          <ac:spMkLst>
            <pc:docMk/>
            <pc:sldMk cId="0" sldId="265"/>
            <ac:spMk id="10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5:39.697" v="80" actId="404"/>
          <ac:spMkLst>
            <pc:docMk/>
            <pc:sldMk cId="0" sldId="265"/>
            <ac:spMk id="13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5:39.697" v="80" actId="40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5:39.697" v="80" actId="404"/>
          <ac:spMkLst>
            <pc:docMk/>
            <pc:sldMk cId="0" sldId="265"/>
            <ac:spMk id="17" creationId="{00000000-0000-0000-0000-000000000000}"/>
          </ac:spMkLst>
        </pc:spChg>
        <pc:spChg chg="mod">
          <ac:chgData name="Lalit Patkar" userId="60265e2f-a99e-47cf-b316-93d9dc04c110" providerId="ADAL" clId="{A9B13A0A-F99A-4E30-8081-D559063533CF}" dt="2026-10-07T04:35:39.697" v="80" actId="404"/>
          <ac:spMkLst>
            <pc:docMk/>
            <pc:sldMk cId="0" sldId="265"/>
            <ac:spMk id="1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64008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OPS Native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6457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 i="1" dirty="0">
                <a:solidFill>
                  <a:srgbClr val="B0C4DE"/>
                </a:solidFill>
              </a:rPr>
              <a:t>Your Personal AI Agent  —  Beta User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9628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78909C"/>
                </a:solidFill>
              </a:rPr>
              <a:t>October 2026  |  TomTom Maps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07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11 Beta Users  |  Confidential — Internal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9CB96-A796-7C7D-9669-CF64D6EC91C7}"/>
              </a:ext>
            </a:extLst>
          </p:cNvPr>
          <p:cNvSpPr txBox="1"/>
          <p:nvPr/>
        </p:nvSpPr>
        <p:spPr>
          <a:xfrm>
            <a:off x="8853085" y="5942474"/>
            <a:ext cx="31326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i="1" dirty="0">
                <a:solidFill>
                  <a:srgbClr val="FFC000"/>
                </a:solidFill>
              </a:rPr>
              <a:t>Initiators</a:t>
            </a:r>
            <a:br>
              <a:rPr lang="en-IN" sz="2000" b="0" i="1" dirty="0">
                <a:solidFill>
                  <a:srgbClr val="FFC000"/>
                </a:solidFill>
              </a:rPr>
            </a:br>
            <a:r>
              <a:rPr lang="en-IN" sz="2000" b="0" i="1" dirty="0">
                <a:solidFill>
                  <a:srgbClr val="FFC000"/>
                </a:solidFill>
              </a:rPr>
              <a:t>Ketki, </a:t>
            </a:r>
            <a:r>
              <a:rPr lang="en-IN" sz="2000" i="1" dirty="0">
                <a:solidFill>
                  <a:srgbClr val="FFC000"/>
                </a:solidFill>
              </a:rPr>
              <a:t>Vrushali, </a:t>
            </a:r>
            <a:r>
              <a:rPr lang="en-IN" sz="2000" b="0" i="1" dirty="0">
                <a:solidFill>
                  <a:srgbClr val="FFC000"/>
                </a:solidFill>
              </a:rPr>
              <a:t>Pratish, </a:t>
            </a:r>
            <a:r>
              <a:rPr lang="en-IN" sz="2000" i="1" dirty="0">
                <a:solidFill>
                  <a:srgbClr val="FFC000"/>
                </a:solidFill>
              </a:rPr>
              <a:t>Lalit</a:t>
            </a:r>
            <a:endParaRPr sz="2000" b="0" i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Will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457200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</a:rPr>
              <a:t>What is OPS Native AI — and what it does for you personally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93976"/>
            <a:ext cx="457200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939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665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</a:rPr>
              <a:t>Your Personal Profile — the AI's brain about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457200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24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</a:rPr>
              <a:t>The Onboarding Form — how to teach the AI about your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9544"/>
            <a:ext cx="457200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2095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82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</a:rPr>
              <a:t>Use Cases — the 5 types of AI automation planned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67328"/>
            <a:ext cx="457200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7673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3989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</a:rPr>
              <a:t>What lands in your inbox — the 4 live AI outputs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25112"/>
            <a:ext cx="457200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3251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</a:rPr>
              <a:t>What action to take when you receive a trigger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82896"/>
            <a:ext cx="457200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8828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5546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</a:rPr>
              <a:t>What the AI will NEVER do — your guardrails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40680"/>
            <a:ext cx="457200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440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132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</a:rPr>
              <a:t>What we need from you — validation and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OPS Native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A personal AI agent that watches your projects and metrics — so you don't have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02695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F2B5B"/>
                </a:solidFill>
              </a:rPr>
              <a:t>Think of it as a smart personal assistant that works in the background: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5669280" cy="402336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20025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👁  Watches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68296"/>
            <a:ext cx="5669280" cy="160934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5440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dirty="0">
                <a:solidFill>
                  <a:srgbClr val="222222"/>
                </a:solidFill>
              </a:rPr>
              <a:t>Monitors your Jira tickets, quality metrics (FTA &amp; </a:t>
            </a:r>
            <a:r>
              <a:rPr dirty="0" err="1">
                <a:solidFill>
                  <a:srgbClr val="222222"/>
                </a:solidFill>
              </a:rPr>
              <a:t>CoQ</a:t>
            </a:r>
            <a:r>
              <a:rPr dirty="0">
                <a:solidFill>
                  <a:srgbClr val="222222"/>
                </a:solidFill>
              </a:rPr>
              <a:t>), and project updates automatically — every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65960"/>
            <a:ext cx="566928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0025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📬  Informs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68296"/>
            <a:ext cx="5669280" cy="160934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5440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dirty="0">
                <a:solidFill>
                  <a:srgbClr val="222222"/>
                </a:solidFill>
              </a:rPr>
              <a:t>Sends you a morning briefing, real-time quality alerts, SLA warnings, and a weekly report — each one </a:t>
            </a:r>
            <a:r>
              <a:rPr dirty="0" err="1">
                <a:solidFill>
                  <a:srgbClr val="222222"/>
                </a:solidFill>
              </a:rPr>
              <a:t>personalised</a:t>
            </a:r>
            <a:r>
              <a:rPr dirty="0">
                <a:solidFill>
                  <a:srgbClr val="222222"/>
                </a:solidFill>
              </a:rPr>
              <a:t> to your projects.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566928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4105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✍  Drafts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71416"/>
            <a:ext cx="5669280" cy="160934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5440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>
                <a:solidFill>
                  <a:srgbClr val="222222"/>
                </a:solidFill>
              </a:rPr>
              <a:t>Prepares ready-to-send stakeholder messages for your review. You approve every word before anything goes 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06908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4105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🚫  Never 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471416"/>
            <a:ext cx="5669280" cy="160934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526280"/>
            <a:ext cx="5440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>
                <a:solidFill>
                  <a:srgbClr val="222222"/>
                </a:solidFill>
              </a:rPr>
              <a:t>It never sends an email, closes a ticket, or makes a decision on your behalf. Every action stays with you, always.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Your Personal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The AI's brain about you — built once, kept up to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F2B5B"/>
                </a:solidFill>
              </a:rPr>
              <a:t>What is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303520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A private profile file created for each of you after the onboarding form.</a:t>
            </a: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It tells the AI: your role, your projects, your metrics, your preferences, and your working hours.</a:t>
            </a: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Every briefing and alert you receive is </a:t>
            </a:r>
            <a:r>
              <a:rPr dirty="0" err="1">
                <a:solidFill>
                  <a:srgbClr val="222222"/>
                </a:solidFill>
              </a:rPr>
              <a:t>personalised</a:t>
            </a:r>
            <a:r>
              <a:rPr dirty="0">
                <a:solidFill>
                  <a:srgbClr val="222222"/>
                </a:solidFill>
              </a:rPr>
              <a:t> based on this file.</a:t>
            </a: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Only you and the AI system can read it.</a:t>
            </a: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You can update it anytime </a:t>
            </a:r>
            <a:r>
              <a:rPr lang="en-IN" dirty="0">
                <a:solidFill>
                  <a:srgbClr val="222222"/>
                </a:solidFill>
              </a:rPr>
              <a:t>……..</a:t>
            </a:r>
            <a:endParaRPr dirty="0">
              <a:solidFill>
                <a:srgbClr val="22222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394960" cy="5074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F2B5B"/>
                </a:solidFill>
              </a:rPr>
              <a:t>What's inside your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22222"/>
                </a:solidFill>
              </a:rPr>
              <a:t>📋   Your active projects and Jira project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32888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22222"/>
                </a:solidFill>
              </a:rPr>
              <a:t>📊   FTA target %, </a:t>
            </a:r>
            <a:r>
              <a:rPr sz="1600" b="0" i="0" dirty="0" err="1">
                <a:solidFill>
                  <a:srgbClr val="222222"/>
                </a:solidFill>
              </a:rPr>
              <a:t>CoQ</a:t>
            </a:r>
            <a:r>
              <a:rPr sz="1600" b="0" i="0" dirty="0">
                <a:solidFill>
                  <a:srgbClr val="222222"/>
                </a:solidFill>
              </a:rPr>
              <a:t> target %, </a:t>
            </a:r>
            <a:r>
              <a:rPr lang="en-IN" sz="1600" b="0" i="0" dirty="0">
                <a:solidFill>
                  <a:srgbClr val="222222"/>
                </a:solidFill>
              </a:rPr>
              <a:t>Efficiency target </a:t>
            </a:r>
            <a:r>
              <a:rPr sz="1600" b="0" i="0" dirty="0">
                <a:solidFill>
                  <a:srgbClr val="222222"/>
                </a:solidFill>
              </a:rPr>
              <a:t>and your alert thresholds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15114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22222"/>
                </a:solidFill>
              </a:rPr>
              <a:t>⏰   Your briefing time and quiet hours (no late-night alerts)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9493" y="370386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22222"/>
                </a:solidFill>
              </a:rPr>
              <a:t>👥   Your manager and key stakeholders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92329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22222"/>
                </a:solidFill>
              </a:rPr>
              <a:t>📣   Your communication style preference (bullet points, short summaries)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1068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22222"/>
                </a:solidFill>
              </a:rPr>
              <a:t>🔒   Data access consents — read-only, 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9493" y="567240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22222"/>
                </a:solidFill>
              </a:rPr>
              <a:t>⚙️   Which use cases are active for you (UC1 to UC5)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47921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1A4DB3"/>
                </a:solidFill>
              </a:rPr>
              <a:t>💡  If your projects or team change, just tell us and we update your profile within 24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Onboarding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A one-time 10-minute form that teaches the AI about your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B5B"/>
                </a:solidFill>
              </a:rPr>
              <a:t>You will be asked to fill in: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04910"/>
            <a:ext cx="658368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02336" y="202319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04910"/>
            <a:ext cx="480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</a:rPr>
              <a:t>Your Role &amp;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52382"/>
            <a:ext cx="480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Job title, your active Jira projects, and your role on each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04910"/>
            <a:ext cx="658368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345936" y="202319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04910"/>
            <a:ext cx="480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F2B5B"/>
                </a:solidFill>
              </a:rPr>
              <a:t>Your </a:t>
            </a:r>
            <a:r>
              <a:rPr lang="en-IN" sz="1400" b="1" i="0" dirty="0">
                <a:solidFill>
                  <a:srgbClr val="0F2B5B"/>
                </a:solidFill>
              </a:rPr>
              <a:t>OM, </a:t>
            </a:r>
            <a:r>
              <a:rPr sz="1400" b="1" i="0" dirty="0">
                <a:solidFill>
                  <a:srgbClr val="0F2B5B"/>
                </a:solidFill>
              </a:rPr>
              <a:t>Quality </a:t>
            </a:r>
            <a:r>
              <a:rPr lang="en-IN" sz="1400" b="1" i="0" dirty="0">
                <a:solidFill>
                  <a:srgbClr val="0F2B5B"/>
                </a:solidFill>
              </a:rPr>
              <a:t>and Efficiency </a:t>
            </a:r>
            <a:r>
              <a:rPr sz="1400" b="1" i="0" dirty="0">
                <a:solidFill>
                  <a:srgbClr val="0F2B5B"/>
                </a:solidFill>
              </a:rP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352382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dirty="0">
                <a:solidFill>
                  <a:srgbClr val="222222"/>
                </a:solidFill>
              </a:rPr>
              <a:t>OM Deliverables, Efficiency targets, </a:t>
            </a:r>
            <a:r>
              <a:rPr sz="1400" b="0" i="0" dirty="0">
                <a:solidFill>
                  <a:srgbClr val="222222"/>
                </a:solidFill>
              </a:rPr>
              <a:t>FTA target %, </a:t>
            </a:r>
            <a:r>
              <a:rPr sz="1400" b="0" i="0" dirty="0" err="1">
                <a:solidFill>
                  <a:srgbClr val="222222"/>
                </a:solidFill>
              </a:rPr>
              <a:t>CoQ</a:t>
            </a:r>
            <a:r>
              <a:rPr sz="1400" b="0" i="0" dirty="0">
                <a:solidFill>
                  <a:srgbClr val="222222"/>
                </a:solidFill>
              </a:rPr>
              <a:t> target %, and the values at which you want to be alerted.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56470"/>
            <a:ext cx="658368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02336" y="307475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056470"/>
            <a:ext cx="480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</a:rPr>
              <a:t>Your Working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03942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When your day starts and ends, and your quiet hours (no alerts after 19:00).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56470"/>
            <a:ext cx="658368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345936" y="307475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056470"/>
            <a:ext cx="480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F2B5B"/>
                </a:solidFill>
              </a:rPr>
              <a:t>Your Stakeholders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403942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Manager name and email, and the key people you coordinate with regularly.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08030"/>
            <a:ext cx="658368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402336" y="412631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08030"/>
            <a:ext cx="480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</a:rPr>
              <a:t>Your Communication Style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55502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How you like information delivered — bullet points, short summaries, etc.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108030"/>
            <a:ext cx="658368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6345936" y="412631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108030"/>
            <a:ext cx="480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</a:rPr>
              <a:t>Data Consent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455502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22222"/>
                </a:solidFill>
              </a:rPr>
              <a:t>Confirm the AI can read (not write) Jira, Confluence, and Power BI for you.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05310"/>
            <a:ext cx="658368" cy="34747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402336" y="5223598"/>
            <a:ext cx="594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205310"/>
            <a:ext cx="10927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</a:rPr>
              <a:t>Which Triggers to Activate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552782"/>
            <a:ext cx="10927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Choose which of the 5 use cases you want the AI to run for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Cases — What the AI Will Do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5 automations planned — 4 are live today, UC5 coming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402336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538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538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Daily Morning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472184"/>
            <a:ext cx="128016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4721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19656"/>
            <a:ext cx="5669280" cy="151790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74520"/>
            <a:ext cx="54406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Triggered every working day at your chosen time (e.g. 08:30).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Covers: RAG health of your projects, Jira SLA status, latest FTA &amp; CoQ, top actions for your day.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If everything is green — it is a short 5-bullet read. If there are issues, it leads with the most urgent.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538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4538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Jira SLA Alert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472184"/>
            <a:ext cx="128016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0" y="14721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19656"/>
            <a:ext cx="5669280" cy="151790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54406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Triggered the moment a Jira ticket you own breaches its SLA deadline.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Shows you: which ticket, how overdue, who is responsible.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Provides a ready-to-send follow-up message for your review — you send it, not the AI.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10712"/>
            <a:ext cx="5669280" cy="40233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4472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447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Automated Weekly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465576"/>
            <a:ext cx="128016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4655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13048"/>
            <a:ext cx="5669280" cy="151790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867912"/>
            <a:ext cx="54406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Triggered every Friday at 16:00.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Generates a PowerPoint draft: project RAG status, FTA/CoQ trends, risks, blockers, recommendations.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All data pre-filled from Jira and Databricks. You review, edit if needed, then share.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410712"/>
            <a:ext cx="566928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4472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UC4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447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Quality &amp; Metric Alert (FTA / CoQ)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0" y="3465576"/>
            <a:ext cx="128016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07040" y="34655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813048"/>
            <a:ext cx="5669280" cy="151790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867912"/>
            <a:ext cx="54406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Triggered the moment FTA drops below or CoQ rises above your personal threshold.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Real-time — checked every 30 minutes during your working hours.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Alert includes: current value, threshold breached, affected project and process type, suggested action.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413248"/>
            <a:ext cx="11795760" cy="40233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4498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UC5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449824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Plan vs. Actual &amp; CRD Risk Check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89920" y="5468112"/>
            <a:ext cx="128016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89920" y="546811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COMING NEXT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815584"/>
            <a:ext cx="11795760" cy="83210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870448"/>
            <a:ext cx="11567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</a:rPr>
              <a:t>• Triggered every day at 17:00 — your end-of-day delivery check.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</a:rPr>
              <a:t>• Compares today's Jira ticket progress against the sprint plan.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</a:rPr>
              <a:t>• Flags if sprint is at risk of not completing and presents your options: descope, extend, or escalate.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Lands in Your Inbox — The 4 Live AI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Each output is personalised to your profile and your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402336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538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🌅  UC1 — Morning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399" y="14904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08:30 every working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19656"/>
            <a:ext cx="5669280" cy="21762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92808"/>
            <a:ext cx="53949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Overall health of your projects — Green / Amber / Red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Jira tickets approaching or past SLA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Your latest FTA and CoQ values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Top 1-2 actions for your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538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🚨  UC2 — SLA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999" y="14904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Real-time — on ticket breach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19656"/>
            <a:ext cx="5669280" cy="21762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892808"/>
            <a:ext cx="53949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Which Jira ticket is overdue and by how many days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Who is the current owner of the ticket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A ready-to-send follow-up draft (you approve and send)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5669280" cy="40233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41056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UC3 — Weekly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41422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Every Friday at 16:00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71416"/>
            <a:ext cx="5669280" cy="21762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544568"/>
            <a:ext cx="53949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Full project status — completed vs planned deliverables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FTA and CoQ week-over-week trend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Key risks, blockers, and recommendations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PowerPoint draft ready for your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69080"/>
            <a:ext cx="566928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1056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⚠️  UC4 — Quality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6999" y="41422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</a:rPr>
              <a:t>Real-time — on metric threshold breach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471416"/>
            <a:ext cx="5669280" cy="21762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4544568"/>
            <a:ext cx="539496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Metric name, current value, and threshold crossed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Which project and process type is affected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Suggested action — e.g. "Check orbis-dir-turnrestriction"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</a:rPr>
              <a:t>• Your Power BI report link included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Action to Take When You Receive a 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You are always in control — the AI only informs, you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402336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538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🌅  Morning Briefing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9656"/>
            <a:ext cx="5669280" cy="21762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39496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Read the RAG status at the top (Green / Amber / Red).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GREEN: no action needed — your day is on track.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AMBER: review the flagged Jira tickets or metric warning.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RED: review the draft message the AI has prepared, then send if you agree.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4538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🚨  SLA Alert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19656"/>
            <a:ext cx="5669280" cy="21762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8"/>
            <a:ext cx="539496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The AI shows you which ticket is overdue and by how many days.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A ready-to-send follow-up draft is attached.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Review the draft, edit if needed, then send it yourself.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The AI never sends anything without you clicking send.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5669280" cy="40233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41056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Weekly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71416"/>
            <a:ext cx="5669280" cy="21762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539496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dirty="0">
                <a:solidFill>
                  <a:srgbClr val="222222"/>
                </a:solidFill>
              </a:rPr>
              <a:t>→  Open the </a:t>
            </a:r>
            <a:r>
              <a:rPr lang="en-IN" sz="1400" dirty="0">
                <a:solidFill>
                  <a:srgbClr val="222222"/>
                </a:solidFill>
              </a:rPr>
              <a:t>word</a:t>
            </a:r>
            <a:r>
              <a:rPr sz="1400" dirty="0">
                <a:solidFill>
                  <a:srgbClr val="222222"/>
                </a:solidFill>
              </a:rPr>
              <a:t> draft from your Friday briefing.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222222"/>
                </a:solidFill>
              </a:rPr>
              <a:t>→  All numbers are pre-filled from Jira and Databricks.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222222"/>
                </a:solidFill>
              </a:rPr>
              <a:t>→  Add your own commentary where needed.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222222"/>
                </a:solidFill>
              </a:rPr>
              <a:t>→  Share with your manager or team when you are satisfied.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69080"/>
            <a:ext cx="566928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41056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⚠️  Quality Alert (FTA / CoQ)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471416"/>
            <a:ext cx="5669280" cy="21762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6446520" y="4544568"/>
            <a:ext cx="539496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A metric has crossed your personal threshold — this needs your attention.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Open the Power BI dashboard link included in the alert.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Check the process type or work package the AI flagged.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</a:rPr>
              <a:t>→  Decide: investigate yourself, escalate, or note as a known issue.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AI Will NEVER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Built-in rules that keep you in full control at all times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1627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75488" y="1453896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  Send an email or Teams message on your behalf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All drafts are shown to you first. Nothing goes out without your explicit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669280" cy="1627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19088" y="1453896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  Close, approve, or transition a Jira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8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The AI reads tickets and flags issues. Only you can move or close a ticket.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54680"/>
            <a:ext cx="5669280" cy="1627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75488" y="3191256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  Make a decision for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30168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When there is a trade-off, the AI presents options with data. You choose.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154680"/>
            <a:ext cx="5669280" cy="1627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ectangle 18"/>
          <p:cNvSpPr/>
          <p:nvPr/>
        </p:nvSpPr>
        <p:spPr>
          <a:xfrm>
            <a:off x="6309360" y="315468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419088" y="3191256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  Contact your manager without your sign-off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30168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Even if 3 reminders have gone unanswered, the AI drafts the escalation and waits for your go-ahead.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5669280" cy="1627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475488" y="4928616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  Access data outside your approved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67528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It only reads Jira, Confluence, and Power BI — exactly what you consented to in the onboarding form.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892040"/>
            <a:ext cx="5669280" cy="1627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ectangle 26"/>
          <p:cNvSpPr/>
          <p:nvPr/>
        </p:nvSpPr>
        <p:spPr>
          <a:xfrm>
            <a:off x="6309360" y="4892040"/>
            <a:ext cx="566928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6419088" y="4928616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  Alert you at night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67528"/>
            <a:ext cx="5394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Quiet hours (19:00 - 08:00) are always respected. Only a complete system failure would send a night alert.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Need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Your feedback shapes how the AI works for you — this is a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B5B"/>
                </a:solidFill>
              </a:rPr>
              <a:t>During the beta, we ask you to do 3 things: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794760" cy="43891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97510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  Complete the Onboarding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59152"/>
            <a:ext cx="3794760" cy="379476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2920" y="2450592"/>
            <a:ext cx="3520440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Takes about 10 minutes.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The form link will be shared today.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Your profile is created within 24 hours.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You can update it anytime.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399" y="1920240"/>
            <a:ext cx="379476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7" y="197510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  Validate Your First Week of Triggers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399" y="2359152"/>
            <a:ext cx="3794760" cy="379476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480559" y="2450592"/>
            <a:ext cx="3520440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For each briefing or alert you receive, tell us: Useful / Partly / Not useful.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Tell us if a threshold feels too sensitive or not sensitive enough.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Tell us if a project or stakeholder is missing from your profile.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38" y="1920240"/>
            <a:ext cx="3794760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6" y="197510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 Report Issues Openly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38" y="2359152"/>
            <a:ext cx="3794760" cy="379476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8458198" y="2450592"/>
            <a:ext cx="352044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Flag immediately if you receive wrong data or a stale number.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Tell us if something is missing from your morning briefing.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Tell us if you receive too many or too few alerts.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22222"/>
                </a:solidFill>
              </a:rPr>
              <a:t>• All feedback goes directly to Lalit for a same-day profile update.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199632"/>
            <a:ext cx="11823192" cy="438912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2362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 Onboarding forms open today.  First briefings go live within 48 hours of your form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64008"/>
          </a:xfrm>
          <a:prstGeom prst="rect">
            <a:avLst/>
          </a:prstGeom>
          <a:solidFill>
            <a:srgbClr val="1A4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Lalit Patkar  |  lalit.patkar@tomtom.com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909C"/>
                </a:solidFill>
              </a:rPr>
              <a:t>OPS Native AI Beta  —  October 2026  |  TomTom Maps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6634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</a:rPr>
              <a:t>Onboarding form link shared today.
First briefing live within 48 hours of your form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191b2d3-7d38-48ed-b3a4-7a9f420ca5cd}" enabled="1" method="Standard" siteId="{374f8026-7b54-4a3a-b87d-328fa26ec10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1768</Words>
  <Application>Microsoft Office PowerPoint</Application>
  <PresentationFormat>Custom</PresentationFormat>
  <Paragraphs>189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Lalit Patkar</cp:lastModifiedBy>
  <cp:revision>1</cp:revision>
  <dcterms:created xsi:type="dcterms:W3CDTF">2013-01-27T09:14:16Z</dcterms:created>
  <dcterms:modified xsi:type="dcterms:W3CDTF">2026-10-07T07:34:45Z</dcterms:modified>
  <cp:category/>
</cp:coreProperties>
</file>